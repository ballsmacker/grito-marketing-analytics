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Grito Labs — Multi-Channel Marketing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Attribution, customer journey analysis and budget optimization | Synthetic demonstration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1. 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Marketing teams operate across email, paid advertising, social media and other acquisition channels.</a:t>
            </a:r>
          </a:p>
          <a:p>
            <a:pPr>
              <a:spcAft>
                <a:spcPts val="1200"/>
              </a:spcAft>
              <a:defRPr sz="1800"/>
            </a:pPr>
            <a:r>
              <a:t>Measure channel effectiveness, understand customer journeys and assign conversion credit consistently.</a:t>
            </a:r>
          </a:p>
          <a:p>
            <a:pPr>
              <a:spcAft>
                <a:spcPts val="1200"/>
              </a:spcAft>
              <a:defRPr sz="1800"/>
            </a:pPr>
            <a:r>
              <a:t>Turn campaign data into quantitative optimization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2. Analytical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Marketing activity → data validation → channel/campaign KPIs → customer journeys → attribution → optimization.</a:t>
            </a:r>
          </a:p>
          <a:p>
            <a:pPr>
              <a:spcAft>
                <a:spcPts val="1200"/>
              </a:spcAft>
              <a:defRPr sz="1800"/>
            </a:pPr>
            <a:r>
              <a:t>SQL provides repeatable business queries; Python supports EDA and attribution; Power BI provides stakeholder reporting.</a:t>
            </a:r>
          </a:p>
          <a:p>
            <a:pPr>
              <a:spcAft>
                <a:spcPts val="1200"/>
              </a:spcAft>
              <a:defRPr sz="1800"/>
            </a:pPr>
            <a:r>
              <a:t>The included dataset is synthetic because the problem statement does not provide a participant dataset.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3. Dataset &amp;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5,000 synthetic customers and 15,063 touchpoints.</a:t>
            </a:r>
          </a:p>
          <a:p>
            <a:pPr>
              <a:spcAft>
                <a:spcPts val="1200"/>
              </a:spcAft>
              <a:defRPr sz="1800"/>
            </a:pPr>
            <a:r>
              <a:t>714 synthetic conversions with modeled revenue of ₹360,647.</a:t>
            </a:r>
          </a:p>
          <a:p>
            <a:pPr>
              <a:spcAft>
                <a:spcPts val="1200"/>
              </a:spcAft>
              <a:defRPr sz="1800"/>
            </a:pPr>
            <a:r>
              <a:t>Tables: customers, marketing_daily, touchpoints, conversions, customer_journeys and attribution_touchpoints.</a:t>
            </a:r>
          </a:p>
          <a:p>
            <a:pPr>
              <a:spcAft>
                <a:spcPts val="1200"/>
              </a:spcAft>
              <a:defRPr sz="1800"/>
            </a:pPr>
            <a:r>
              <a:t>Period: October 2025 – September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4. Executive KPI Snapshot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291840" cy="1463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Spend</a:t>
            </a:r>
          </a:p>
          <a:p>
            <a:pPr>
              <a:defRPr sz="2400" b="1"/>
            </a:pPr>
            <a:r>
              <a:t>₹4,253,647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291840" cy="1463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Revenue</a:t>
            </a:r>
          </a:p>
          <a:p>
            <a:pPr>
              <a:defRPr sz="2400" b="1"/>
            </a:pPr>
            <a:r>
              <a:t>₹360,647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59" y="1371600"/>
            <a:ext cx="3291840" cy="1463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Conversions</a:t>
            </a:r>
          </a:p>
          <a:p>
            <a:pPr>
              <a:defRPr sz="2400" b="1"/>
            </a:pPr>
            <a:r>
              <a:t>714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383280"/>
            <a:ext cx="3291840" cy="1463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CTR</a:t>
            </a:r>
          </a:p>
          <a:p>
            <a:pPr>
              <a:defRPr sz="2400" b="1"/>
            </a:pPr>
            <a:r>
              <a:t>2.87%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383280"/>
            <a:ext cx="3291840" cy="1463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CPC</a:t>
            </a:r>
          </a:p>
          <a:p>
            <a:pPr>
              <a:defRPr sz="2400" b="1"/>
            </a:pPr>
            <a:r>
              <a:t>₹0.40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9" y="3383280"/>
            <a:ext cx="3291840" cy="14630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Last-touch ROAS</a:t>
            </a:r>
          </a:p>
          <a:p>
            <a:pPr>
              <a:defRPr sz="2400" b="1"/>
            </a:pPr>
            <a:r>
              <a:t>0.08x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5. Channel Efficiency</a:t>
            </a:r>
          </a:p>
        </p:txBody>
      </p:sp>
      <p:pic>
        <p:nvPicPr>
          <p:cNvPr id="3" name="Picture 2" descr="channel_ro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51560"/>
            <a:ext cx="10332720" cy="574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6. Spend vs Revenue</a:t>
            </a:r>
          </a:p>
        </p:txBody>
      </p:sp>
      <p:pic>
        <p:nvPicPr>
          <p:cNvPr id="3" name="Picture 2" descr="spend_vs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51560"/>
            <a:ext cx="10332720" cy="574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7. Attribution Model Comparison</a:t>
            </a:r>
          </a:p>
        </p:txBody>
      </p:sp>
      <p:pic>
        <p:nvPicPr>
          <p:cNvPr id="3" name="Picture 2" descr="attribu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51560"/>
            <a:ext cx="10332720" cy="61996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8. Conversion Trend</a:t>
            </a:r>
          </a:p>
        </p:txBody>
      </p:sp>
      <p:pic>
        <p:nvPicPr>
          <p:cNvPr id="3" name="Picture 2" descr="monthly_conver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51560"/>
            <a:ext cx="1033272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9. Attribution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First-touch, last-touch, linear and position-based models distribute the same conversion revenue differently.</a:t>
            </a:r>
          </a:p>
          <a:p>
            <a:pPr>
              <a:spcAft>
                <a:spcPts val="1200"/>
              </a:spcAft>
              <a:defRPr sz="1800"/>
            </a:pPr>
            <a:r>
              <a:t>A channel can be important early in the journey while receiving little last-touch credit.</a:t>
            </a:r>
          </a:p>
          <a:p>
            <a:pPr>
              <a:spcAft>
                <a:spcPts val="1200"/>
              </a:spcAft>
              <a:defRPr sz="1800"/>
            </a:pPr>
            <a:r>
              <a:t>Compare multiple models rather than treating one attribution rule as ground truth.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10. Customer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Analyze the number and sequence of touchpoints before conversion.</a:t>
            </a:r>
          </a:p>
          <a:p>
            <a:pPr>
              <a:spcAft>
                <a:spcPts val="1200"/>
              </a:spcAft>
              <a:defRPr sz="1800"/>
            </a:pPr>
            <a:r>
              <a:t>Identify recurring first-channel → last-channel combinations and high-volume journey patterns.</a:t>
            </a:r>
          </a:p>
          <a:p>
            <a:pPr>
              <a:spcAft>
                <a:spcPts val="1200"/>
              </a:spcAft>
              <a:defRPr sz="1800"/>
            </a:pPr>
            <a:r>
              <a:t>Use journey analysis to identify where customers stall and where nurture or retargeting assists conversion.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11. Budget Optimization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Scale candidates: strong attributed ROAS plus meaningful conversion volume, subject to incrementality testing.</a:t>
            </a:r>
          </a:p>
          <a:p>
            <a:pPr>
              <a:spcAft>
                <a:spcPts val="1200"/>
              </a:spcAft>
              <a:defRPr sz="1800"/>
            </a:pPr>
            <a:r>
              <a:t>Optimization candidates: moderate ROAS where creative, audience, landing page or journey improvements may unlock efficiency.</a:t>
            </a:r>
          </a:p>
          <a:p>
            <a:pPr>
              <a:spcAft>
                <a:spcPts val="1200"/>
              </a:spcAft>
              <a:defRPr sz="1800"/>
            </a:pPr>
            <a:r>
              <a:t>Redesign/reduce candidates: low ROAS and high CAC after validating tracking and data quality.</a:t>
            </a:r>
          </a:p>
          <a:p>
            <a:pPr>
              <a:spcAft>
                <a:spcPts val="1200"/>
              </a:spcAft>
              <a:defRPr sz="1800"/>
            </a:pPr>
            <a:r>
              <a:t>Do not equate attribution with causality; use experiments or holdouts for major reallocations.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12. Power BI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Page 1: Executive overview — Spend, Revenue, Conversions, CTR, CPC, ROAS and trends.</a:t>
            </a:r>
          </a:p>
          <a:p>
            <a:pPr>
              <a:spcAft>
                <a:spcPts val="1200"/>
              </a:spcAft>
              <a:defRPr sz="1800"/>
            </a:pPr>
            <a:r>
              <a:t>Page 2: Channel performance — channel/campaign efficiency matrix and filters.</a:t>
            </a:r>
          </a:p>
          <a:p>
            <a:pPr>
              <a:spcAft>
                <a:spcPts val="1200"/>
              </a:spcAft>
              <a:defRPr sz="1800"/>
            </a:pPr>
            <a:r>
              <a:t>Page 3: Attribution — model comparison and customer journey analysis.</a:t>
            </a:r>
          </a:p>
          <a:p>
            <a:pPr>
              <a:spcAft>
                <a:spcPts val="1200"/>
              </a:spcAft>
              <a:defRPr sz="1800"/>
            </a:pPr>
            <a:r>
              <a:t>Page 4: Campaign optimization — ranked campaigns with quantitative action flags.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13. Technical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PostgreSQL-compatible schema and analytical SQL queries.</a:t>
            </a:r>
          </a:p>
          <a:p>
            <a:pPr>
              <a:spcAft>
                <a:spcPts val="1200"/>
              </a:spcAft>
              <a:defRPr sz="1800"/>
            </a:pPr>
            <a:r>
              <a:t>Python/Pandas notebook for KPI and attribution analysis.</a:t>
            </a:r>
          </a:p>
          <a:p>
            <a:pPr>
              <a:spcAft>
                <a:spcPts val="1200"/>
              </a:spcAft>
              <a:defRPr sz="1800"/>
            </a:pPr>
            <a:r>
              <a:t>Power BI-ready CSV tables and DAX measure specification.</a:t>
            </a:r>
          </a:p>
          <a:p>
            <a:pPr>
              <a:spcAft>
                <a:spcPts val="1200"/>
              </a:spcAft>
              <a:defRPr sz="1800"/>
            </a:pPr>
            <a:r>
              <a:t>Methodology documentation covering assumptions, attribution logic and limitations.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14. Key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Optimize toward revenue and customer outcomes rather than clicks alone.</a:t>
            </a:r>
          </a:p>
          <a:p>
            <a:pPr>
              <a:spcAft>
                <a:spcPts val="1200"/>
              </a:spcAft>
              <a:defRPr sz="1800"/>
            </a:pPr>
            <a:r>
              <a:t>Use multiple attribution models to understand channel roles across the journey.</a:t>
            </a:r>
          </a:p>
          <a:p>
            <a:pPr>
              <a:spcAft>
                <a:spcPts val="1200"/>
              </a:spcAft>
              <a:defRPr sz="1800"/>
            </a:pPr>
            <a:r>
              <a:t>Segment performance by customer type and campaign intent.</a:t>
            </a:r>
          </a:p>
          <a:p>
            <a:pPr>
              <a:spcAft>
                <a:spcPts val="1200"/>
              </a:spcAft>
              <a:defRPr sz="1800"/>
            </a:pPr>
            <a:r>
              <a:t>Validate major budget changes using incremental testing.</a:t>
            </a:r>
          </a:p>
          <a:p>
            <a:pPr>
              <a:spcAft>
                <a:spcPts val="1200"/>
              </a:spcAft>
              <a:defRPr sz="1800"/>
            </a:pPr>
            <a:r>
              <a:t>Maintain a reproducible KPI layer so marketing and BI teams use the same definitions.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15. 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Dataset is synthetic and demonstrates the framework, not actual Grito Labs performance.</a:t>
            </a:r>
          </a:p>
          <a:p>
            <a:pPr>
              <a:spcAft>
                <a:spcPts val="1200"/>
              </a:spcAft>
              <a:defRPr sz="1800"/>
            </a:pPr>
            <a:r>
              <a:t>LTV is limited without repeat-purchase history.</a:t>
            </a:r>
          </a:p>
          <a:p>
            <a:pPr>
              <a:spcAft>
                <a:spcPts val="1200"/>
              </a:spcAft>
              <a:defRPr sz="1800"/>
            </a:pPr>
            <a:r>
              <a:t>Attribution is observational and cannot establish causal lift.</a:t>
            </a:r>
          </a:p>
          <a:p>
            <a:pPr>
              <a:spcAft>
                <a:spcPts val="1200"/>
              </a:spcAft>
              <a:defRPr sz="1800"/>
            </a:pPr>
            <a:r>
              <a:t>Next step: connect source platforms, reconcile identities, validate tracking and run controlled incrementality tests.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Submission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SQL + Python notebook + Power BI-ready data + methodology +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